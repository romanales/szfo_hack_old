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5" r:id="rId4"/>
    <p:sldId id="264" r:id="rId5"/>
    <p:sldId id="260" r:id="rId6"/>
    <p:sldId id="257" r:id="rId7"/>
    <p:sldId id="266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tcaa@mail.ru" initials="r" lastIdx="1" clrIdx="0">
    <p:extLst>
      <p:ext uri="{19B8F6BF-5375-455C-9EA6-DF929625EA0E}">
        <p15:presenceInfo xmlns:p15="http://schemas.microsoft.com/office/powerpoint/2012/main" userId="6751b0556dab36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3FE33"/>
    <a:srgbClr val="FF00C7"/>
    <a:srgbClr val="FFFFFF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13T00:16:49.653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BC8A4-B77C-4258-A4BE-A488F7B3C8E1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02163-E4B0-4876-96D8-BF00F836E2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51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02163-E4B0-4876-96D8-BF00F836E27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315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02163-E4B0-4876-96D8-BF00F836E27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975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02163-E4B0-4876-96D8-BF00F836E27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549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02163-E4B0-4876-96D8-BF00F836E27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165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02163-E4B0-4876-96D8-BF00F836E27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11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E9697-9AF6-4B5C-9913-A36BAE215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18D259-C6B4-4908-856D-AE90578F8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F2647A-90A4-4BDF-AEAA-9767D022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1B016-5F4D-4A31-B500-AA25F796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02F80D-119A-4DA1-B56E-5FA59546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753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8F3C3-C174-45C4-9453-EA834CA3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FFA751-F3E1-4FBE-A9A1-D09C2BD64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E0FFAA-2F38-449A-A077-7BF8ECC4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A3F21C-EE02-4071-9913-41CF725A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3C7AEE-3DF2-4559-A7FC-C6DD66C2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C254D-E953-434A-AF5A-9DF6A3BB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138E9D-57FD-4101-910E-5FEFD9293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C9F8A4-D845-4D82-A64E-B80E4339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44CA34-23DA-4163-A910-102F30FA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474347-4167-45EF-8DBB-579D4F4F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32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B3548-69D9-4AA5-ADB3-78A8D7FF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025DE5-43A7-4690-9440-24E32A29B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370592-45B7-4B33-A989-0BC747A82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336767-E128-48A5-863A-048E1833F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5A955D-7CA9-4134-BEB4-6DFBEF8B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0720A6-FFF5-4ED5-8689-2D3F1FA3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65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4E8E9-6621-42B5-88B9-D17F1BF4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8A0FAD-FCE4-4BE9-A94F-4FC564345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E7918F-252B-4AD5-8724-61D0B03E9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E4DAF7-859B-49A6-9013-B3BB4DC3F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206510-4413-4964-A694-DD7D48132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06571C2-8579-40F1-86DA-03E286B8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2C09E1-7608-4A20-9017-E7DF3D6B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9BCFA9-8BDC-43FE-B3D0-ED424102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21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46599B-03AC-469C-99A8-3233890B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35D223-D33D-4365-A9AA-E6FDE6AA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F96318-5985-458D-94F4-D948FE5B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B23B56-54BD-41DF-A2D1-5540B87D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87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5C8307-AE04-47D8-924B-11EECEE1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7C943E-9843-4015-B25C-68842262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880E3D-7BC0-497B-9A5F-CCE9A2B9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80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AC8FC-A14D-40C8-833D-CC1CDF87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B779B4-EEA1-4824-9F5E-98C0C1781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9B7859-E251-4C6C-BE95-F5200D6D8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11DF08-5F8F-4127-81E0-8C75D649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2237F0-215E-4CF9-A9F0-B2A0F8E8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C29B44-7C17-4007-A90F-F04FECD9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26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2E946-8C3A-41B7-9D10-DB01225A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F78ECD-AC10-4B10-805E-E1DB3E5A55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BD790D-6431-4431-A53A-524396443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33B67C-ADEE-4B24-A337-E441B469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AD0A69-2B4A-4DAC-96C1-E3D2B979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E3A04C-5CFC-4B2E-892B-B2B45478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27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BD74E-1E36-455D-86AD-73C3A812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608343-69C9-457A-930D-A98AEE449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BCB77B-29F4-43C1-A004-FEE4073B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F16607-6825-4FD8-AE52-03968E47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B2D850-5327-4FDC-B5F1-C6D61CDB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916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740855B-0451-4CC7-95FD-A5D7D923E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059E0B-B1DB-4E21-AE5A-78CB210AA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65D607-BAFF-4DBE-8206-E5D8754E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6E69B3-D15E-4C10-8A04-E441A612B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0B4D41-12CE-4646-A148-BFB285DE6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39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456F4-B2AC-422D-896F-253241782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0670D-E140-4F2B-AF25-E5582147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7580B-329A-4F73-822B-A267C1879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0EC16-9733-4F9A-B663-DEEEB7684F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27283-9CAB-4DD3-A2DB-705850EC1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0F8526-5638-4890-BDBB-5CCBF5EDC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F8A4D-0598-4E19-BCD3-DAA8B91787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63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72DFFF-1621-4D0D-99A8-C7A4E71BBDCB}"/>
              </a:ext>
            </a:extLst>
          </p:cNvPr>
          <p:cNvSpPr txBox="1"/>
          <p:nvPr/>
        </p:nvSpPr>
        <p:spPr>
          <a:xfrm>
            <a:off x="333632" y="2644170"/>
            <a:ext cx="72925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solidFill>
                  <a:srgbClr val="03FE33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Интеллектуальный</a:t>
            </a:r>
            <a:br>
              <a:rPr lang="ru-RU" sz="4800" b="1" i="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ru-RU" sz="4800" b="1" i="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пульт составителя</a:t>
            </a:r>
          </a:p>
          <a:p>
            <a:endParaRPr lang="ru-RU" sz="4800" b="1" i="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4ED43B-BF40-44CD-B86F-036950C667F1}"/>
              </a:ext>
            </a:extLst>
          </p:cNvPr>
          <p:cNvSpPr txBox="1"/>
          <p:nvPr/>
        </p:nvSpPr>
        <p:spPr>
          <a:xfrm>
            <a:off x="333632" y="794775"/>
            <a:ext cx="72925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dirty="0" err="1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F</a:t>
            </a:r>
            <a:r>
              <a:rPr lang="en-US" sz="4800" b="1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it.TUSUR</a:t>
            </a:r>
            <a:endParaRPr lang="ru-RU" sz="4800" b="1" i="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83080BA-ED33-41F6-BA4F-4D362B0F4E3D}"/>
              </a:ext>
            </a:extLst>
          </p:cNvPr>
          <p:cNvSpPr/>
          <p:nvPr/>
        </p:nvSpPr>
        <p:spPr>
          <a:xfrm>
            <a:off x="3890317" y="1218923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5210770-2593-407D-87BF-979AFDCC94C2}"/>
              </a:ext>
            </a:extLst>
          </p:cNvPr>
          <p:cNvSpPr/>
          <p:nvPr/>
        </p:nvSpPr>
        <p:spPr>
          <a:xfrm rot="5400000" flipV="1">
            <a:off x="9846103" y="1639276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433C5FF-BEEB-4C6E-A664-310D944F3AF2}"/>
              </a:ext>
            </a:extLst>
          </p:cNvPr>
          <p:cNvSpPr/>
          <p:nvPr/>
        </p:nvSpPr>
        <p:spPr>
          <a:xfrm rot="5400000" flipV="1">
            <a:off x="8561000" y="4592537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9407E60-EA3E-459C-8CCB-38A907C4040F}"/>
              </a:ext>
            </a:extLst>
          </p:cNvPr>
          <p:cNvSpPr/>
          <p:nvPr/>
        </p:nvSpPr>
        <p:spPr>
          <a:xfrm>
            <a:off x="-199769" y="5746882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303450B-3CF4-4E11-B9B3-C3DEC5DCB961}"/>
              </a:ext>
            </a:extLst>
          </p:cNvPr>
          <p:cNvSpPr/>
          <p:nvPr/>
        </p:nvSpPr>
        <p:spPr>
          <a:xfrm>
            <a:off x="5212490" y="6328039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6377B17-3975-4BBC-85B2-6B2711E9B6EB}"/>
              </a:ext>
            </a:extLst>
          </p:cNvPr>
          <p:cNvSpPr/>
          <p:nvPr/>
        </p:nvSpPr>
        <p:spPr>
          <a:xfrm rot="5400000" flipV="1">
            <a:off x="10640268" y="3383281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371CCEA-8104-4E18-80CD-C6493FBE3A79}"/>
              </a:ext>
            </a:extLst>
          </p:cNvPr>
          <p:cNvSpPr/>
          <p:nvPr/>
        </p:nvSpPr>
        <p:spPr>
          <a:xfrm rot="5400000" flipV="1">
            <a:off x="7124284" y="1065666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218C086-C6F6-49CB-A099-7845F5B45001}"/>
              </a:ext>
            </a:extLst>
          </p:cNvPr>
          <p:cNvSpPr/>
          <p:nvPr/>
        </p:nvSpPr>
        <p:spPr>
          <a:xfrm rot="5400000" flipV="1">
            <a:off x="7918449" y="2809671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36151E5-AA81-42AA-A2B7-BAAB220A6FC5}"/>
              </a:ext>
            </a:extLst>
          </p:cNvPr>
          <p:cNvSpPr/>
          <p:nvPr/>
        </p:nvSpPr>
        <p:spPr>
          <a:xfrm>
            <a:off x="5081180" y="4999713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object 5">
            <a:extLst>
              <a:ext uri="{FF2B5EF4-FFF2-40B4-BE49-F238E27FC236}">
                <a16:creationId xmlns:a16="http://schemas.microsoft.com/office/drawing/2014/main" id="{387E42D6-3D4B-42B7-8C14-5B159304C4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7719" y="51631"/>
            <a:ext cx="5506593" cy="9316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FB225-87AF-445D-8FAF-A3E8A3BBEE3A}"/>
              </a:ext>
            </a:extLst>
          </p:cNvPr>
          <p:cNvSpPr txBox="1"/>
          <p:nvPr/>
        </p:nvSpPr>
        <p:spPr>
          <a:xfrm>
            <a:off x="38058" y="5820207"/>
            <a:ext cx="72925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rgbClr val="03FE33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Кейсодержатель</a:t>
            </a:r>
            <a:br>
              <a:rPr lang="ru-RU" sz="2000" dirty="0">
                <a:solidFill>
                  <a:srgbClr val="03FE33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ru-RU" sz="2000" i="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sz="2000" i="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А</a:t>
            </a:r>
            <a:r>
              <a:rPr lang="ru-RU" sz="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 «НИИАС»</a:t>
            </a:r>
            <a:endParaRPr lang="ru-RU" sz="2000" i="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1220CD-BFA8-4567-B797-58C4DB5FC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745" y="5911404"/>
            <a:ext cx="1693171" cy="8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6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5" y="972301"/>
            <a:ext cx="2570206" cy="953658"/>
          </a:xfrm>
          <a:prstGeom prst="roundRect">
            <a:avLst/>
          </a:prstGeom>
          <a:solidFill>
            <a:schemeClr val="tx1"/>
          </a:solidFill>
          <a:ln w="47625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Проблематика: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477CA-E2B9-4847-81A8-8D6D1FEEBF7C}"/>
              </a:ext>
            </a:extLst>
          </p:cNvPr>
          <p:cNvSpPr txBox="1"/>
          <p:nvPr/>
        </p:nvSpPr>
        <p:spPr>
          <a:xfrm>
            <a:off x="776415" y="2218844"/>
            <a:ext cx="7946425" cy="348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Анализ беспилотных локомотивов выявил необходимость взаимодействия между локомотивом и составителем для решения технологических задач. В отсутствие машиниста, составитель должен иметь возможность управлять локомотивом дистанционно для подачи команд. 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Запросы должны быть переданы принимаемой стороной без изменения смысловой целостности.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8296C2-B251-4DBB-BA94-9640BAE3175C}"/>
              </a:ext>
            </a:extLst>
          </p:cNvPr>
          <p:cNvSpPr/>
          <p:nvPr/>
        </p:nvSpPr>
        <p:spPr>
          <a:xfrm>
            <a:off x="515358" y="5313406"/>
            <a:ext cx="11128331" cy="61783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F260B77-C57E-402D-AD49-6FA5EEF6DA95}"/>
              </a:ext>
            </a:extLst>
          </p:cNvPr>
          <p:cNvSpPr/>
          <p:nvPr/>
        </p:nvSpPr>
        <p:spPr>
          <a:xfrm rot="5400000" flipV="1">
            <a:off x="8091637" y="3393742"/>
            <a:ext cx="5889516" cy="70516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98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4" y="972301"/>
            <a:ext cx="3301316" cy="95365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Решение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8CA5829-3145-491B-9D6D-A110BC6E99EA}"/>
              </a:ext>
            </a:extLst>
          </p:cNvPr>
          <p:cNvSpPr/>
          <p:nvPr/>
        </p:nvSpPr>
        <p:spPr>
          <a:xfrm>
            <a:off x="776413" y="2235637"/>
            <a:ext cx="2395153" cy="548469"/>
          </a:xfrm>
          <a:prstGeom prst="roundRect">
            <a:avLst/>
          </a:prstGeom>
          <a:solidFill>
            <a:schemeClr val="tx1"/>
          </a:solidFill>
          <a:ln w="25400">
            <a:solidFill>
              <a:srgbClr val="FF00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rgbClr val="FF00C7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Выбор метода решения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99B37FD-128F-42C2-9CBE-0C8992EBF7E4}"/>
              </a:ext>
            </a:extLst>
          </p:cNvPr>
          <p:cNvSpPr/>
          <p:nvPr/>
        </p:nvSpPr>
        <p:spPr>
          <a:xfrm>
            <a:off x="776414" y="559409"/>
            <a:ext cx="10840996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1EF55D-D81A-4B91-916C-D8736AB2943B}"/>
              </a:ext>
            </a:extLst>
          </p:cNvPr>
          <p:cNvSpPr/>
          <p:nvPr/>
        </p:nvSpPr>
        <p:spPr>
          <a:xfrm rot="5400000" flipV="1">
            <a:off x="8863622" y="3684082"/>
            <a:ext cx="5469280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D0DE94-DC60-4604-ADE7-A0B52709E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29" y="1160932"/>
            <a:ext cx="5705580" cy="576395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ACB986E-EDC4-455B-A42B-039B70A02811}"/>
              </a:ext>
            </a:extLst>
          </p:cNvPr>
          <p:cNvSpPr/>
          <p:nvPr/>
        </p:nvSpPr>
        <p:spPr>
          <a:xfrm rot="5400000" flipV="1">
            <a:off x="2278337" y="3684083"/>
            <a:ext cx="5469280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BCB52CE-F765-43EE-AD43-03830B9B7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829" y="1979247"/>
            <a:ext cx="5705580" cy="51278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4AD33B8-8B2C-433E-94C4-1146434DC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829" y="2733948"/>
            <a:ext cx="2740677" cy="22337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493FDAE-ABB3-4826-AAAC-0E6DD6A67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2697" y="2731299"/>
            <a:ext cx="2815712" cy="23021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9F392DF-853D-424B-A720-1E895815FF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657" y="4683071"/>
            <a:ext cx="3798079" cy="16155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6A8AE8C-5E1D-4CC2-B07D-4BC814B634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0459" y="3199247"/>
            <a:ext cx="4964476" cy="1238875"/>
          </a:xfrm>
          <a:prstGeom prst="rect">
            <a:avLst/>
          </a:prstGeom>
        </p:spPr>
      </p:pic>
      <p:sp>
        <p:nvSpPr>
          <p:cNvPr id="26" name="Подзаголовок 25">
            <a:extLst>
              <a:ext uri="{FF2B5EF4-FFF2-40B4-BE49-F238E27FC236}">
                <a16:creationId xmlns:a16="http://schemas.microsoft.com/office/drawing/2014/main" id="{557B1B5A-5F55-47AA-B441-66E39CE88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413" y="3010924"/>
            <a:ext cx="3668772" cy="3287667"/>
          </a:xfrm>
        </p:spPr>
        <p:txBody>
          <a:bodyPr/>
          <a:lstStyle/>
          <a:p>
            <a:pPr algn="l"/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Были опробованы следующие методы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Глубокое обучение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Дообучение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готовых моделей на словаре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Урезание мощных моделей по словарю</a:t>
            </a:r>
          </a:p>
        </p:txBody>
      </p:sp>
    </p:spTree>
    <p:extLst>
      <p:ext uri="{BB962C8B-B14F-4D97-AF65-F5344CB8AC3E}">
        <p14:creationId xmlns:p14="http://schemas.microsoft.com/office/powerpoint/2010/main" val="338213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4" y="972301"/>
            <a:ext cx="3301316" cy="95365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Решение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99B37FD-128F-42C2-9CBE-0C8992EBF7E4}"/>
              </a:ext>
            </a:extLst>
          </p:cNvPr>
          <p:cNvSpPr/>
          <p:nvPr/>
        </p:nvSpPr>
        <p:spPr>
          <a:xfrm>
            <a:off x="776414" y="559409"/>
            <a:ext cx="10840996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1EF55D-D81A-4B91-916C-D8736AB2943B}"/>
              </a:ext>
            </a:extLst>
          </p:cNvPr>
          <p:cNvSpPr/>
          <p:nvPr/>
        </p:nvSpPr>
        <p:spPr>
          <a:xfrm rot="5400000" flipV="1">
            <a:off x="8863622" y="3684082"/>
            <a:ext cx="5469280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38E682B5-6804-462A-A2C4-1DE18DD4C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414" y="2293132"/>
            <a:ext cx="6882889" cy="4148450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Итоговый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выбор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пал на модель </a:t>
            </a:r>
            <a:r>
              <a:rPr lang="en-US" sz="20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vosk-model-small-ru-0.22</a:t>
            </a:r>
          </a:p>
          <a:p>
            <a:pPr algn="l"/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характеристики модели: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Size: 45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error rate/Speed: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22.71(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openstt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audiobooks) 31.97 (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openstt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29.89(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sova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devicves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11.79(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golos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crowd)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Notes: Lightweight wideband model for Android/iOS and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Rpi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42409FD-3DDD-467C-8101-2A38D9515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496" y="4965001"/>
            <a:ext cx="5249008" cy="1476581"/>
          </a:xfrm>
          <a:prstGeom prst="rect">
            <a:avLst/>
          </a:prstGeom>
        </p:spPr>
      </p:pic>
      <p:sp>
        <p:nvSpPr>
          <p:cNvPr id="16" name="Подзаголовок 5">
            <a:extLst>
              <a:ext uri="{FF2B5EF4-FFF2-40B4-BE49-F238E27FC236}">
                <a16:creationId xmlns:a16="http://schemas.microsoft.com/office/drawing/2014/main" id="{2185BBFD-81A2-4876-91D9-177C6BDD020A}"/>
              </a:ext>
            </a:extLst>
          </p:cNvPr>
          <p:cNvSpPr txBox="1">
            <a:spLocks/>
          </p:cNvSpPr>
          <p:nvPr/>
        </p:nvSpPr>
        <p:spPr>
          <a:xfrm>
            <a:off x="7944562" y="2293132"/>
            <a:ext cx="3345581" cy="4230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Преимущества в данном проекте: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Легковесность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Оптимальный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Доступность и изученность модели</a:t>
            </a:r>
          </a:p>
        </p:txBody>
      </p:sp>
    </p:spTree>
    <p:extLst>
      <p:ext uri="{BB962C8B-B14F-4D97-AF65-F5344CB8AC3E}">
        <p14:creationId xmlns:p14="http://schemas.microsoft.com/office/powerpoint/2010/main" val="354130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1913" y="705971"/>
            <a:ext cx="2570206" cy="95365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Инструменты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86225-D04F-457A-A532-4433938DEE21}"/>
              </a:ext>
            </a:extLst>
          </p:cNvPr>
          <p:cNvSpPr txBox="1"/>
          <p:nvPr/>
        </p:nvSpPr>
        <p:spPr>
          <a:xfrm>
            <a:off x="771913" y="1787439"/>
            <a:ext cx="5059833" cy="40934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3FE33"/>
                </a:solidFill>
                <a:latin typeface="Arial Black" panose="020B0A04020102020204" pitchFamily="34" charset="0"/>
              </a:rPr>
              <a:t>Python</a:t>
            </a:r>
            <a:r>
              <a:rPr lang="ru-RU" sz="2000" dirty="0">
                <a:solidFill>
                  <a:srgbClr val="03FE33"/>
                </a:soli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Arial Black" panose="020B0A04020102020204" pitchFamily="34" charset="0"/>
              </a:rPr>
              <a:t>как основной язык разработки.</a:t>
            </a:r>
          </a:p>
          <a:p>
            <a:endParaRPr lang="ru-RU" sz="2000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r>
              <a:rPr lang="en-US" sz="2000" dirty="0" err="1">
                <a:solidFill>
                  <a:srgbClr val="03FE33"/>
                </a:solidFill>
                <a:latin typeface="Arial Black" panose="020B0A04020102020204" pitchFamily="34" charset="0"/>
              </a:rPr>
              <a:t>Vosk</a:t>
            </a:r>
            <a:r>
              <a:rPr lang="en-US" sz="2000" dirty="0">
                <a:solidFill>
                  <a:srgbClr val="03FE33"/>
                </a:soli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Arial Black" panose="020B0A04020102020204" pitchFamily="34" charset="0"/>
              </a:rPr>
              <a:t>как модель распознавания речи.</a:t>
            </a:r>
          </a:p>
          <a:p>
            <a:endParaRPr lang="ru-RU" sz="2000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r>
              <a:rPr lang="en-US" sz="2000" dirty="0" err="1">
                <a:solidFill>
                  <a:srgbClr val="03FE33"/>
                </a:solidFill>
                <a:latin typeface="Arial Black" panose="020B0A04020102020204" pitchFamily="34" charset="0"/>
              </a:rPr>
              <a:t>Noisereduce</a:t>
            </a:r>
            <a:r>
              <a:rPr lang="en-US" sz="2000" dirty="0">
                <a:solidFill>
                  <a:srgbClr val="03FE33"/>
                </a:soli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Arial Black" panose="020B0A04020102020204" pitchFamily="34" charset="0"/>
              </a:rPr>
              <a:t>в качестве </a:t>
            </a:r>
            <a:r>
              <a:rPr lang="ru-RU" sz="2000" dirty="0" err="1">
                <a:solidFill>
                  <a:srgbClr val="FFFFFF"/>
                </a:solidFill>
                <a:latin typeface="Arial Black" panose="020B0A04020102020204" pitchFamily="34" charset="0"/>
              </a:rPr>
              <a:t>шумоподавителя</a:t>
            </a:r>
            <a:r>
              <a:rPr lang="ru-RU" sz="2000" dirty="0">
                <a:solidFill>
                  <a:srgbClr val="FFFFFF"/>
                </a:solidFill>
                <a:latin typeface="Arial Black" panose="020B0A04020102020204" pitchFamily="34" charset="0"/>
              </a:rPr>
              <a:t>.</a:t>
            </a:r>
          </a:p>
          <a:p>
            <a:endParaRPr lang="ru-RU" sz="2000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r>
              <a:rPr lang="ru-RU" sz="2000" dirty="0">
                <a:solidFill>
                  <a:srgbClr val="03FE33"/>
                </a:solidFill>
                <a:latin typeface="Arial Black" panose="020B0A04020102020204" pitchFamily="34" charset="0"/>
              </a:rPr>
              <a:t>Библиотеки </a:t>
            </a:r>
            <a:r>
              <a:rPr lang="ru-RU" sz="2000" dirty="0">
                <a:solidFill>
                  <a:srgbClr val="FFFFFF"/>
                </a:solidFill>
                <a:latin typeface="Arial Black" panose="020B0A04020102020204" pitchFamily="34" charset="0"/>
              </a:rPr>
              <a:t>использованные в разработке: </a:t>
            </a:r>
            <a:r>
              <a:rPr lang="en-US" sz="2000" dirty="0">
                <a:solidFill>
                  <a:srgbClr val="FF00C7"/>
                </a:solidFill>
                <a:latin typeface="Arial Black" panose="020B0A04020102020204" pitchFamily="34" charset="0"/>
              </a:rPr>
              <a:t>re, json, </a:t>
            </a:r>
            <a:r>
              <a:rPr lang="en-US" sz="2000" dirty="0" err="1">
                <a:solidFill>
                  <a:srgbClr val="FF00C7"/>
                </a:solidFill>
                <a:latin typeface="Arial Black" panose="020B0A04020102020204" pitchFamily="34" charset="0"/>
              </a:rPr>
              <a:t>vosk</a:t>
            </a:r>
            <a:r>
              <a:rPr lang="en-US" sz="2000" dirty="0">
                <a:solidFill>
                  <a:srgbClr val="FF00C7"/>
                </a:solidFill>
                <a:latin typeface="Arial Black" panose="020B0A04020102020204" pitchFamily="34" charset="0"/>
              </a:rPr>
              <a:t>, </a:t>
            </a:r>
            <a:r>
              <a:rPr lang="en-US" sz="2000" dirty="0" err="1">
                <a:solidFill>
                  <a:srgbClr val="FF00C7"/>
                </a:solidFill>
                <a:latin typeface="Arial Black" panose="020B0A04020102020204" pitchFamily="34" charset="0"/>
              </a:rPr>
              <a:t>pyaudio</a:t>
            </a:r>
            <a:r>
              <a:rPr lang="en-US" sz="2000" dirty="0">
                <a:solidFill>
                  <a:srgbClr val="FF00C7"/>
                </a:solidFill>
                <a:latin typeface="Arial Black" panose="020B0A04020102020204" pitchFamily="34" charset="0"/>
              </a:rPr>
              <a:t>, </a:t>
            </a:r>
            <a:r>
              <a:rPr lang="en-US" sz="2000" dirty="0" err="1">
                <a:solidFill>
                  <a:srgbClr val="FF00C7"/>
                </a:solidFill>
                <a:latin typeface="Arial Black" panose="020B0A04020102020204" pitchFamily="34" charset="0"/>
              </a:rPr>
              <a:t>noisereduce</a:t>
            </a:r>
            <a:r>
              <a:rPr lang="en-US" sz="2000" dirty="0">
                <a:solidFill>
                  <a:srgbClr val="FF00C7"/>
                </a:solidFill>
                <a:latin typeface="Arial Black" panose="020B0A04020102020204" pitchFamily="34" charset="0"/>
              </a:rPr>
              <a:t>, </a:t>
            </a:r>
            <a:r>
              <a:rPr lang="en-US" sz="2000" dirty="0" err="1">
                <a:solidFill>
                  <a:srgbClr val="FF00C7"/>
                </a:solidFill>
                <a:latin typeface="Arial Black" panose="020B0A04020102020204" pitchFamily="34" charset="0"/>
              </a:rPr>
              <a:t>numpy</a:t>
            </a:r>
            <a:r>
              <a:rPr lang="en-US" sz="2000" dirty="0">
                <a:solidFill>
                  <a:srgbClr val="FF00C7"/>
                </a:solidFill>
                <a:latin typeface="Arial Black" panose="020B0A04020102020204" pitchFamily="34" charset="0"/>
              </a:rPr>
              <a:t>, </a:t>
            </a:r>
            <a:r>
              <a:rPr lang="en-US" sz="2000" dirty="0" err="1">
                <a:solidFill>
                  <a:srgbClr val="FF00C7"/>
                </a:solidFill>
                <a:latin typeface="Arial Black" panose="020B0A04020102020204" pitchFamily="34" charset="0"/>
              </a:rPr>
              <a:t>rapidfuzz</a:t>
            </a:r>
            <a:r>
              <a:rPr lang="ru-RU" sz="2000" dirty="0">
                <a:solidFill>
                  <a:srgbClr val="FFFFFF"/>
                </a:solidFill>
                <a:latin typeface="Arial Black" panose="020B0A04020102020204" pitchFamily="34" charset="0"/>
              </a:rPr>
              <a:t>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B675EAB-2C26-464C-A3DD-30D52BBD75C8}"/>
              </a:ext>
            </a:extLst>
          </p:cNvPr>
          <p:cNvSpPr/>
          <p:nvPr/>
        </p:nvSpPr>
        <p:spPr>
          <a:xfrm rot="5400000" flipV="1">
            <a:off x="8861014" y="3117630"/>
            <a:ext cx="5257841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314" y="2798454"/>
            <a:ext cx="985653" cy="98565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5AC597F-0D0F-42E1-9FF5-A636CC12B0B7}"/>
              </a:ext>
            </a:extLst>
          </p:cNvPr>
          <p:cNvSpPr/>
          <p:nvPr/>
        </p:nvSpPr>
        <p:spPr>
          <a:xfrm rot="10800000" flipV="1">
            <a:off x="1088310" y="6286828"/>
            <a:ext cx="8809205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04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4" y="972301"/>
            <a:ext cx="3301316" cy="95365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Решение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8CA5829-3145-491B-9D6D-A110BC6E99EA}"/>
              </a:ext>
            </a:extLst>
          </p:cNvPr>
          <p:cNvSpPr/>
          <p:nvPr/>
        </p:nvSpPr>
        <p:spPr>
          <a:xfrm>
            <a:off x="776413" y="2235638"/>
            <a:ext cx="2395153" cy="395416"/>
          </a:xfrm>
          <a:prstGeom prst="roundRect">
            <a:avLst/>
          </a:prstGeom>
          <a:solidFill>
            <a:schemeClr val="tx1"/>
          </a:solidFill>
          <a:ln w="25400">
            <a:solidFill>
              <a:srgbClr val="FF00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rgbClr val="FF00C7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Структурная схема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99B37FD-128F-42C2-9CBE-0C8992EBF7E4}"/>
              </a:ext>
            </a:extLst>
          </p:cNvPr>
          <p:cNvSpPr/>
          <p:nvPr/>
        </p:nvSpPr>
        <p:spPr>
          <a:xfrm>
            <a:off x="776414" y="559409"/>
            <a:ext cx="10840996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1EF55D-D81A-4B91-916C-D8736AB2943B}"/>
              </a:ext>
            </a:extLst>
          </p:cNvPr>
          <p:cNvSpPr/>
          <p:nvPr/>
        </p:nvSpPr>
        <p:spPr>
          <a:xfrm rot="5400000" flipV="1">
            <a:off x="8863622" y="3684082"/>
            <a:ext cx="5469280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6CD118-A3F1-4C8B-A732-5FF9160BB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13" y="2940733"/>
            <a:ext cx="10434752" cy="262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2" y="972301"/>
            <a:ext cx="2739213" cy="704902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Скорость работы решения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99B37FD-128F-42C2-9CBE-0C8992EBF7E4}"/>
              </a:ext>
            </a:extLst>
          </p:cNvPr>
          <p:cNvSpPr/>
          <p:nvPr/>
        </p:nvSpPr>
        <p:spPr>
          <a:xfrm>
            <a:off x="776414" y="559409"/>
            <a:ext cx="10840996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1EF55D-D81A-4B91-916C-D8736AB2943B}"/>
              </a:ext>
            </a:extLst>
          </p:cNvPr>
          <p:cNvSpPr/>
          <p:nvPr/>
        </p:nvSpPr>
        <p:spPr>
          <a:xfrm rot="5400000" flipV="1">
            <a:off x="8863622" y="3684082"/>
            <a:ext cx="5469280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2FE798-7AFC-4EE1-AA53-F418073DB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413" y="1924207"/>
            <a:ext cx="5319588" cy="1655762"/>
          </a:xfrm>
        </p:spPr>
        <p:txBody>
          <a:bodyPr>
            <a:normAutofit/>
          </a:bodyPr>
          <a:lstStyle/>
          <a:p>
            <a:pPr algn="l"/>
            <a:r>
              <a:rPr lang="en-US" sz="1800" b="0" i="0" dirty="0">
                <a:solidFill>
                  <a:srgbClr val="03FE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Ryzen</a:t>
            </a:r>
            <a:r>
              <a:rPr lang="en-US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 7500F </a:t>
            </a:r>
            <a:r>
              <a:rPr lang="en-US" sz="1800" b="0" i="0" dirty="0">
                <a:solidFill>
                  <a:srgbClr val="FF00C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3.7</a:t>
            </a:r>
            <a:r>
              <a:rPr lang="en-US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ГГц</a:t>
            </a:r>
            <a:endParaRPr lang="ru-RU" sz="1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45EDD6-8077-4066-9E5A-68433C007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12" y="2414412"/>
            <a:ext cx="3535706" cy="412595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5988DB-7528-4AFD-8A26-E4A9D9774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32" y="2752088"/>
            <a:ext cx="5748690" cy="13796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16A5A2D-D536-4D2C-9D96-5853CD72A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32" y="4735256"/>
            <a:ext cx="5748690" cy="1379686"/>
          </a:xfrm>
          <a:prstGeom prst="rect">
            <a:avLst/>
          </a:prstGeom>
        </p:spPr>
      </p:pic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F01F5BE7-029A-4854-886F-FDCACA4877EB}"/>
              </a:ext>
            </a:extLst>
          </p:cNvPr>
          <p:cNvSpPr txBox="1">
            <a:spLocks/>
          </p:cNvSpPr>
          <p:nvPr/>
        </p:nvSpPr>
        <p:spPr>
          <a:xfrm>
            <a:off x="5394432" y="2313560"/>
            <a:ext cx="5319588" cy="43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 шумоподавления</a:t>
            </a:r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A7F46223-2E0F-47BB-9428-A7750D3D1AF0}"/>
              </a:ext>
            </a:extLst>
          </p:cNvPr>
          <p:cNvSpPr txBox="1">
            <a:spLocks/>
          </p:cNvSpPr>
          <p:nvPr/>
        </p:nvSpPr>
        <p:spPr>
          <a:xfrm>
            <a:off x="5394432" y="4297419"/>
            <a:ext cx="5319588" cy="43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шумоподавлением</a:t>
            </a:r>
          </a:p>
        </p:txBody>
      </p:sp>
    </p:spTree>
    <p:extLst>
      <p:ext uri="{BB962C8B-B14F-4D97-AF65-F5344CB8AC3E}">
        <p14:creationId xmlns:p14="http://schemas.microsoft.com/office/powerpoint/2010/main" val="86155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5" y="972301"/>
            <a:ext cx="2570206" cy="95365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Киллер-фича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477CA-E2B9-4847-81A8-8D6D1FEEBF7C}"/>
              </a:ext>
            </a:extLst>
          </p:cNvPr>
          <p:cNvSpPr txBox="1"/>
          <p:nvPr/>
        </p:nvSpPr>
        <p:spPr>
          <a:xfrm>
            <a:off x="776415" y="2254237"/>
            <a:ext cx="77662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Читаемость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029EC-E102-4A99-9CC3-66C8F9A8BD82}"/>
              </a:ext>
            </a:extLst>
          </p:cNvPr>
          <p:cNvSpPr txBox="1"/>
          <p:nvPr/>
        </p:nvSpPr>
        <p:spPr>
          <a:xfrm>
            <a:off x="776415" y="3718599"/>
            <a:ext cx="711081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случае не на 100% точной работы модели распознавания голоса, у нас применяется модель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rapidfuzz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для выбора наиболее схожей команды с распознанным текстом, в случае если распознанный текст не совпадает ни с одной командой, то мы считаем что микрофон включен случайно и мы не выполняем данный запрос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283E5-E78A-48D8-8839-6A93D0090A58}"/>
              </a:ext>
            </a:extLst>
          </p:cNvPr>
          <p:cNvSpPr txBox="1"/>
          <p:nvPr/>
        </p:nvSpPr>
        <p:spPr>
          <a:xfrm>
            <a:off x="776415" y="2832530"/>
            <a:ext cx="7255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Лёгкая интерпретируемость для распознавания команды из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6AE9A8D-076B-4086-841C-5B178FC01363}"/>
              </a:ext>
            </a:extLst>
          </p:cNvPr>
          <p:cNvSpPr/>
          <p:nvPr/>
        </p:nvSpPr>
        <p:spPr>
          <a:xfrm rot="5400000" flipV="1">
            <a:off x="9846103" y="1639276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3BC0ED0-813B-4930-89F0-E905A3E11972}"/>
              </a:ext>
            </a:extLst>
          </p:cNvPr>
          <p:cNvSpPr/>
          <p:nvPr/>
        </p:nvSpPr>
        <p:spPr>
          <a:xfrm rot="5400000" flipV="1">
            <a:off x="8561000" y="4592537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ACD8102-22E2-478A-A7EE-60945668E250}"/>
              </a:ext>
            </a:extLst>
          </p:cNvPr>
          <p:cNvSpPr/>
          <p:nvPr/>
        </p:nvSpPr>
        <p:spPr>
          <a:xfrm>
            <a:off x="5212490" y="6328039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B3F3533-F87A-4FAA-9EA6-846827526DEC}"/>
              </a:ext>
            </a:extLst>
          </p:cNvPr>
          <p:cNvSpPr/>
          <p:nvPr/>
        </p:nvSpPr>
        <p:spPr>
          <a:xfrm rot="5400000" flipV="1">
            <a:off x="10640268" y="3383281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142358C-DFE7-43C4-AA69-877CA6B0CF97}"/>
              </a:ext>
            </a:extLst>
          </p:cNvPr>
          <p:cNvSpPr/>
          <p:nvPr/>
        </p:nvSpPr>
        <p:spPr>
          <a:xfrm rot="5400000" flipV="1">
            <a:off x="7298757" y="3853100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031142E-CC6B-4E46-B3DA-755E9DF8FD6E}"/>
              </a:ext>
            </a:extLst>
          </p:cNvPr>
          <p:cNvSpPr/>
          <p:nvPr/>
        </p:nvSpPr>
        <p:spPr>
          <a:xfrm rot="5400000" flipV="1">
            <a:off x="7918449" y="2809671"/>
            <a:ext cx="2355787" cy="45719"/>
          </a:xfrm>
          <a:prstGeom prst="rect">
            <a:avLst/>
          </a:prstGeom>
          <a:solidFill>
            <a:srgbClr val="03F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9D82C0-F721-42E7-8A3E-33DB2B7E4902}"/>
              </a:ext>
            </a:extLst>
          </p:cNvPr>
          <p:cNvSpPr/>
          <p:nvPr/>
        </p:nvSpPr>
        <p:spPr>
          <a:xfrm>
            <a:off x="5315958" y="569348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DDC52BF-C39F-4444-9E73-DD461161E01C}"/>
              </a:ext>
            </a:extLst>
          </p:cNvPr>
          <p:cNvSpPr/>
          <p:nvPr/>
        </p:nvSpPr>
        <p:spPr>
          <a:xfrm>
            <a:off x="3648125" y="1119199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573F81A-EAAE-4ADE-9CF3-DFB6714107D3}"/>
              </a:ext>
            </a:extLst>
          </p:cNvPr>
          <p:cNvSpPr/>
          <p:nvPr/>
        </p:nvSpPr>
        <p:spPr>
          <a:xfrm>
            <a:off x="6206343" y="1737643"/>
            <a:ext cx="7110820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21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4" y="972301"/>
            <a:ext cx="3276601" cy="95365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Масштабируемость: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477CA-E2B9-4847-81A8-8D6D1FEEBF7C}"/>
              </a:ext>
            </a:extLst>
          </p:cNvPr>
          <p:cNvSpPr txBox="1"/>
          <p:nvPr/>
        </p:nvSpPr>
        <p:spPr>
          <a:xfrm>
            <a:off x="776414" y="2346488"/>
            <a:ext cx="44423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 легко адаптируется под добавление новых команд путём включения их в словарь</a:t>
            </a:r>
          </a:p>
          <a:p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66943E0-AC23-4719-8BD7-79B08E289302}"/>
              </a:ext>
            </a:extLst>
          </p:cNvPr>
          <p:cNvSpPr/>
          <p:nvPr/>
        </p:nvSpPr>
        <p:spPr>
          <a:xfrm rot="5400000" flipV="1">
            <a:off x="8749448" y="3406141"/>
            <a:ext cx="6203218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2284F28-5BDF-423A-8537-B4B5C0EDCAF6}"/>
              </a:ext>
            </a:extLst>
          </p:cNvPr>
          <p:cNvSpPr/>
          <p:nvPr/>
        </p:nvSpPr>
        <p:spPr>
          <a:xfrm>
            <a:off x="6946600" y="972301"/>
            <a:ext cx="3276601" cy="95365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Адаптируемость: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8AAD3E-30B5-473E-B126-C1F72BA10786}"/>
              </a:ext>
            </a:extLst>
          </p:cNvPr>
          <p:cNvSpPr txBox="1"/>
          <p:nvPr/>
        </p:nvSpPr>
        <p:spPr>
          <a:xfrm>
            <a:off x="6944257" y="2346487"/>
            <a:ext cx="42656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Библиотеки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dirty="0" err="1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vosk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библиотека актуальна для </a:t>
            </a:r>
            <a:r>
              <a:rPr lang="en-US" sz="16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600" dirty="0">
              <a:solidFill>
                <a:srgbClr val="FF00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dirty="0" err="1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pyaudio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en-US" sz="16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r>
              <a:rPr lang="ru-RU" sz="16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можно использовать библиотеку </a:t>
            </a:r>
            <a:r>
              <a:rPr lang="en-US" sz="1600" dirty="0" err="1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portaudio</a:t>
            </a:r>
            <a:endParaRPr lang="en-US" sz="1600" dirty="0">
              <a:solidFill>
                <a:srgbClr val="FF00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600" dirty="0">
              <a:solidFill>
                <a:srgbClr val="FF00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dirty="0" err="1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1600" dirty="0" err="1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noisereduce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16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будут использованы стандартные контейнеры, шумоподавление реализуется вручную либо подбирается подходящая библиотека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expressions</a:t>
            </a:r>
            <a:r>
              <a:rPr lang="ru-RU" sz="1600" dirty="0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16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 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 использовать библиотеку </a:t>
            </a:r>
            <a:r>
              <a:rPr lang="en-US" sz="1600" dirty="0">
                <a:solidFill>
                  <a:srgbClr val="FF00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&lt;regex&gt;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59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E85869-909B-4D16-8BBE-DDEA6CB15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547" y="359742"/>
            <a:ext cx="1376039" cy="660069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882DB-81C2-4112-B863-41B50EBFFE1D}"/>
              </a:ext>
            </a:extLst>
          </p:cNvPr>
          <p:cNvSpPr/>
          <p:nvPr/>
        </p:nvSpPr>
        <p:spPr>
          <a:xfrm>
            <a:off x="776414" y="359742"/>
            <a:ext cx="2455057" cy="519148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03FE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Segoe UI Black" panose="020B0A02040204020203" pitchFamily="34" charset="0"/>
                <a:ea typeface="Segoe UI Black" panose="020B0A02040204020203" pitchFamily="34" charset="0"/>
              </a:rPr>
              <a:t>Наша команда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976A421-40E5-4B26-BD05-3AD2CFDFAD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7618" y="259533"/>
            <a:ext cx="5095782" cy="991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FC980F-B063-4030-8BAD-26D9D8B9417F}"/>
              </a:ext>
            </a:extLst>
          </p:cNvPr>
          <p:cNvSpPr txBox="1"/>
          <p:nvPr/>
        </p:nvSpPr>
        <p:spPr>
          <a:xfrm>
            <a:off x="776414" y="3880639"/>
            <a:ext cx="104005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Роман 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Алешкович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u-RU" sz="2000" dirty="0">
                <a:solidFill>
                  <a:srgbClr val="03FE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Капитан команды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@last_attempt_to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Михаил Матвиенко –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Scientist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@MikhailMatvienko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Никита 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Маниченко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@Balbesis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Станислав 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Танасенко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аналитик(</a:t>
            </a:r>
            <a:r>
              <a:rPr lang="en-US" sz="2000" b="0" i="0" u="sng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@maickrusso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05F3B-6080-4708-8023-714F2796C41B}"/>
              </a:ext>
            </a:extLst>
          </p:cNvPr>
          <p:cNvSpPr txBox="1"/>
          <p:nvPr/>
        </p:nvSpPr>
        <p:spPr>
          <a:xfrm>
            <a:off x="776414" y="1569076"/>
            <a:ext cx="104005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Команда: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Fit.TUSUR</a:t>
            </a:r>
            <a:endParaRPr lang="ru-RU" sz="2000" b="1" dirty="0">
              <a:solidFill>
                <a:srgbClr val="0070C0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0070C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  <a:p>
            <a:r>
              <a:rPr lang="ru-RU" sz="20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Кейсодержатель</a:t>
            </a:r>
            <a:r>
              <a:rPr lang="ru-RU" sz="200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: </a:t>
            </a:r>
            <a:r>
              <a:rPr lang="ru-RU" sz="2000" b="1" i="0" dirty="0">
                <a:solidFill>
                  <a:srgbClr val="FF00C7"/>
                </a:solidFill>
                <a:effectLst/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А</a:t>
            </a:r>
            <a:r>
              <a:rPr lang="ru-RU" sz="2000" b="1" dirty="0">
                <a:solidFill>
                  <a:srgbClr val="FF00C7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О «НИИАС»</a:t>
            </a:r>
          </a:p>
          <a:p>
            <a:endParaRPr lang="ru-RU" sz="2000" i="0" dirty="0">
              <a:solidFill>
                <a:srgbClr val="FF00C7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Кейс: </a:t>
            </a:r>
            <a:r>
              <a:rPr lang="ru-RU" sz="2000" b="1" dirty="0">
                <a:solidFill>
                  <a:srgbClr val="03FE33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Интеллектуальный</a:t>
            </a:r>
            <a:r>
              <a:rPr lang="en-US" sz="2000" b="1" dirty="0">
                <a:solidFill>
                  <a:srgbClr val="03FE33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</a:t>
            </a:r>
            <a:r>
              <a:rPr lang="ru-RU" sz="2000" b="1" i="0" dirty="0">
                <a:solidFill>
                  <a:srgbClr val="03FE33"/>
                </a:solidFill>
                <a:effectLst/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пульт составителя</a:t>
            </a:r>
          </a:p>
          <a:p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175D1EF-9C02-4B9A-800C-2D4A3F0B64D5}"/>
              </a:ext>
            </a:extLst>
          </p:cNvPr>
          <p:cNvSpPr/>
          <p:nvPr/>
        </p:nvSpPr>
        <p:spPr>
          <a:xfrm>
            <a:off x="776414" y="3648634"/>
            <a:ext cx="10639172" cy="45719"/>
          </a:xfrm>
          <a:prstGeom prst="rect">
            <a:avLst/>
          </a:prstGeom>
          <a:solidFill>
            <a:srgbClr val="FF00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A605EEA-3BF0-4D77-8BFF-9404C7F771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963" y="4202488"/>
            <a:ext cx="2218623" cy="221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695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380</Words>
  <Application>Microsoft Office PowerPoint</Application>
  <PresentationFormat>Широкоэкранный</PresentationFormat>
  <Paragraphs>68</Paragraphs>
  <Slides>10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Segoe UI Black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TUSUR</dc:title>
  <dc:creator>Владислав</dc:creator>
  <cp:lastModifiedBy>rtcaa@mail.ru</cp:lastModifiedBy>
  <cp:revision>49</cp:revision>
  <dcterms:created xsi:type="dcterms:W3CDTF">2024-09-08T02:14:44Z</dcterms:created>
  <dcterms:modified xsi:type="dcterms:W3CDTF">2024-10-13T07:03:48Z</dcterms:modified>
</cp:coreProperties>
</file>